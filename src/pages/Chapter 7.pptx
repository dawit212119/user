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90" r:id="rId1"/>
  </p:sldMasterIdLst>
  <p:notesMasterIdLst>
    <p:notesMasterId r:id="rId15"/>
  </p:notesMasterIdLst>
  <p:sldIdLst>
    <p:sldId id="257" r:id="rId2"/>
    <p:sldId id="352" r:id="rId3"/>
    <p:sldId id="358" r:id="rId4"/>
    <p:sldId id="361" r:id="rId5"/>
    <p:sldId id="359" r:id="rId6"/>
    <p:sldId id="362" r:id="rId7"/>
    <p:sldId id="363" r:id="rId8"/>
    <p:sldId id="364" r:id="rId9"/>
    <p:sldId id="365" r:id="rId10"/>
    <p:sldId id="366" r:id="rId11"/>
    <p:sldId id="367" r:id="rId12"/>
    <p:sldId id="368" r:id="rId13"/>
    <p:sldId id="369" r:id="rId14"/>
  </p:sldIdLst>
  <p:sldSz cx="9144000" cy="6858000" type="screen4x3"/>
  <p:notesSz cx="6881813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DF"/>
    <a:srgbClr val="0000FF"/>
    <a:srgbClr val="0000CC"/>
    <a:srgbClr val="FF00FF"/>
    <a:srgbClr val="FF0000"/>
    <a:srgbClr val="FF0066"/>
    <a:srgbClr val="FF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4" autoAdjust="0"/>
    <p:restoredTop sz="91331" autoAdjust="0"/>
  </p:normalViewPr>
  <p:slideViewPr>
    <p:cSldViewPr>
      <p:cViewPr>
        <p:scale>
          <a:sx n="60" d="100"/>
          <a:sy n="60" d="100"/>
        </p:scale>
        <p:origin x="2304" y="4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2634B825-503F-4FC6-8FA7-B24F6622C9F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82913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446" tIns="46223" rIns="92446" bIns="46223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5C553BDA-59BA-4352-88A2-FD733512D345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97313" y="0"/>
            <a:ext cx="2982912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446" tIns="46223" rIns="92446" bIns="46223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1BF1073C-30B6-888E-F379-AD032BA0F7E3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17600" y="696913"/>
            <a:ext cx="46482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01" name="Rectangle 5">
            <a:extLst>
              <a:ext uri="{FF2B5EF4-FFF2-40B4-BE49-F238E27FC236}">
                <a16:creationId xmlns:a16="http://schemas.microsoft.com/office/drawing/2014/main" id="{5F05CA0E-D968-43E0-A018-2215B47FCD0E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8975" y="4416425"/>
            <a:ext cx="5505450" cy="4183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446" tIns="46223" rIns="92446" bIns="462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102" name="Rectangle 6">
            <a:extLst>
              <a:ext uri="{FF2B5EF4-FFF2-40B4-BE49-F238E27FC236}">
                <a16:creationId xmlns:a16="http://schemas.microsoft.com/office/drawing/2014/main" id="{55B0011F-B25C-4CB1-A548-0259B1E7B587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9675"/>
            <a:ext cx="2982913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446" tIns="46223" rIns="92446" bIns="46223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3" name="Rectangle 7">
            <a:extLst>
              <a:ext uri="{FF2B5EF4-FFF2-40B4-BE49-F238E27FC236}">
                <a16:creationId xmlns:a16="http://schemas.microsoft.com/office/drawing/2014/main" id="{CD404ED5-7D6F-4062-90A8-88CA6DCF6BB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97313" y="8829675"/>
            <a:ext cx="2982912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446" tIns="46223" rIns="92446" bIns="46223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panose="020B0604020202020204" pitchFamily="34" charset="0"/>
              </a:defRPr>
            </a:lvl1pPr>
          </a:lstStyle>
          <a:p>
            <a:fld id="{F8CB9BD5-3906-408E-BC37-B90A6823B458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7">
            <a:extLst>
              <a:ext uri="{FF2B5EF4-FFF2-40B4-BE49-F238E27FC236}">
                <a16:creationId xmlns:a16="http://schemas.microsoft.com/office/drawing/2014/main" id="{8815CA08-F371-C6C7-3EFC-B1A8F6CDDE7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483DD67A-5F17-4220-ADFE-622E9816E150}" type="slidenum">
              <a:rPr lang="en-US" altLang="en-US"/>
              <a:pPr>
                <a:spcBef>
                  <a:spcPct val="0"/>
                </a:spcBef>
              </a:pPr>
              <a:t>1</a:t>
            </a:fld>
            <a:endParaRPr lang="en-US" altLang="en-US"/>
          </a:p>
        </p:txBody>
      </p:sp>
      <p:sp>
        <p:nvSpPr>
          <p:cNvPr id="5123" name="Rectangle 2">
            <a:extLst>
              <a:ext uri="{FF2B5EF4-FFF2-40B4-BE49-F238E27FC236}">
                <a16:creationId xmlns:a16="http://schemas.microsoft.com/office/drawing/2014/main" id="{051A6ABE-FFD6-C3EA-E853-7B3DD5719A5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4" name="Rectangle 3">
            <a:extLst>
              <a:ext uri="{FF2B5EF4-FFF2-40B4-BE49-F238E27FC236}">
                <a16:creationId xmlns:a16="http://schemas.microsoft.com/office/drawing/2014/main" id="{09BF594E-73A0-A9FB-A769-EEB03501BF2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7575" y="4416425"/>
            <a:ext cx="5046663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4752976" y="2852738"/>
            <a:ext cx="4391025" cy="893762"/>
          </a:xfrm>
        </p:spPr>
        <p:txBody>
          <a:bodyPr/>
          <a:lstStyle>
            <a:lvl1pPr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en-US" noProof="0"/>
              <a:t>Click to edit Master title style</a:t>
            </a:r>
            <a:endParaRPr lang="ru-RU" altLang="en-US" noProof="0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4752976" y="3644900"/>
            <a:ext cx="4391025" cy="503238"/>
          </a:xfrm>
          <a:effectLst>
            <a:outerShdw dist="17961" dir="2700000" algn="ctr" rotWithShape="0">
              <a:schemeClr val="bg2"/>
            </a:outerShdw>
          </a:effectLst>
        </p:spPr>
        <p:txBody>
          <a:bodyPr/>
          <a:lstStyle>
            <a:lvl1pPr marL="0" indent="0">
              <a:buFontTx/>
              <a:buNone/>
              <a:defRPr sz="15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en-US" noProof="0"/>
              <a:t>Click to edit Master subtitle style</a:t>
            </a:r>
            <a:endParaRPr lang="ru-RU" altLang="en-US" noProof="0"/>
          </a:p>
        </p:txBody>
      </p:sp>
    </p:spTree>
    <p:extLst>
      <p:ext uri="{BB962C8B-B14F-4D97-AF65-F5344CB8AC3E}">
        <p14:creationId xmlns:p14="http://schemas.microsoft.com/office/powerpoint/2010/main" val="3346615378"/>
      </p:ext>
    </p:extLst>
  </p:cSld>
  <p:clrMapOvr>
    <a:masterClrMapping/>
  </p:clrMapOvr>
  <p:transition spd="slow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7013376"/>
      </p:ext>
    </p:extLst>
  </p:cSld>
  <p:clrMapOvr>
    <a:masterClrMapping/>
  </p:clrMapOvr>
  <p:transition spd="slow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40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5"/>
            <a:ext cx="7886700" cy="1500187"/>
          </a:xfrm>
        </p:spPr>
        <p:txBody>
          <a:bodyPr/>
          <a:lstStyle>
            <a:lvl1pPr marL="0" indent="0">
              <a:buNone/>
              <a:defRPr sz="1800"/>
            </a:lvl1pPr>
            <a:lvl2pPr marL="342900" indent="0">
              <a:buNone/>
              <a:defRPr sz="1500"/>
            </a:lvl2pPr>
            <a:lvl3pPr marL="685800" indent="0">
              <a:buNone/>
              <a:defRPr sz="135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01952091"/>
      </p:ext>
    </p:extLst>
  </p:cSld>
  <p:clrMapOvr>
    <a:masterClrMapping/>
  </p:clrMapOvr>
  <p:transition spd="slow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835151" y="908052"/>
            <a:ext cx="3308350" cy="417671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95900" y="908052"/>
            <a:ext cx="3308350" cy="417671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07181398"/>
      </p:ext>
    </p:extLst>
  </p:cSld>
  <p:clrMapOvr>
    <a:masterClrMapping/>
  </p:clrMapOvr>
  <p:transition spd="slow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7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9" y="1681163"/>
            <a:ext cx="3868737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9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97969134"/>
      </p:ext>
    </p:extLst>
  </p:cSld>
  <p:clrMapOvr>
    <a:masterClrMapping/>
  </p:clrMapOvr>
  <p:transition spd="slow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90583623"/>
      </p:ext>
    </p:extLst>
  </p:cSld>
  <p:clrMapOvr>
    <a:masterClrMapping/>
  </p:clrMapOvr>
  <p:transition spd="slow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351302"/>
      </p:ext>
    </p:extLst>
  </p:cSld>
  <p:clrMapOvr>
    <a:masterClrMapping/>
  </p:clrMapOvr>
  <p:transition spd="slow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9" y="457200"/>
            <a:ext cx="2949575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7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9" y="2057400"/>
            <a:ext cx="2949575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15160084"/>
      </p:ext>
    </p:extLst>
  </p:cSld>
  <p:clrMapOvr>
    <a:masterClrMapping/>
  </p:clrMapOvr>
  <p:transition spd="slow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9" y="457200"/>
            <a:ext cx="2949575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7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9" y="2057400"/>
            <a:ext cx="2949575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58523898"/>
      </p:ext>
    </p:extLst>
  </p:cSld>
  <p:clrMapOvr>
    <a:masterClrMapping/>
  </p:clrMapOvr>
  <p:transition spd="slow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45045941"/>
      </p:ext>
    </p:extLst>
  </p:cSld>
  <p:clrMapOvr>
    <a:masterClrMapping/>
  </p:clrMapOvr>
  <p:transition spd="slow">
    <p:push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67539" y="188913"/>
            <a:ext cx="1709737" cy="48958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835150" y="188913"/>
            <a:ext cx="4979988" cy="489585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2403767"/>
      </p:ext>
    </p:extLst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2416402D-D742-9B46-1824-7CFEE19C92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908175" y="188913"/>
            <a:ext cx="6769100" cy="508000"/>
          </a:xfrm>
          <a:prstGeom prst="rect">
            <a:avLst/>
          </a:prstGeom>
          <a:noFill/>
          <a:ln>
            <a:noFill/>
          </a:ln>
          <a:effectLst>
            <a:outerShdw dist="1796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  <a:endParaRPr lang="ru-RU" altLang="en-US"/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8A52147A-3444-9FBE-90AD-5BA1D4CCDE7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835150" y="908050"/>
            <a:ext cx="6769100" cy="417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  <a:endParaRPr lang="ru-RU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61" r:id="rId1"/>
    <p:sldLayoutId id="2147484051" r:id="rId2"/>
    <p:sldLayoutId id="2147484052" r:id="rId3"/>
    <p:sldLayoutId id="2147484053" r:id="rId4"/>
    <p:sldLayoutId id="2147484054" r:id="rId5"/>
    <p:sldLayoutId id="2147484055" r:id="rId6"/>
    <p:sldLayoutId id="2147484056" r:id="rId7"/>
    <p:sldLayoutId id="2147484057" r:id="rId8"/>
    <p:sldLayoutId id="2147484058" r:id="rId9"/>
    <p:sldLayoutId id="2147484059" r:id="rId10"/>
    <p:sldLayoutId id="2147484060" r:id="rId11"/>
  </p:sldLayoutIdLst>
  <p:transition spd="slow">
    <p:push dir="u"/>
  </p:transition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100" b="1" kern="1200">
          <a:solidFill>
            <a:srgbClr val="080808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100" b="1">
          <a:solidFill>
            <a:srgbClr val="080808"/>
          </a:solidFill>
          <a:latin typeface="Arial" panose="020B060402020202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100" b="1">
          <a:solidFill>
            <a:srgbClr val="080808"/>
          </a:solidFill>
          <a:latin typeface="Arial" panose="020B060402020202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100" b="1">
          <a:solidFill>
            <a:srgbClr val="080808"/>
          </a:solidFill>
          <a:latin typeface="Arial" panose="020B060402020202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100" b="1">
          <a:solidFill>
            <a:srgbClr val="080808"/>
          </a:solidFill>
          <a:latin typeface="Arial" panose="020B0604020202020204" pitchFamily="34" charset="0"/>
        </a:defRPr>
      </a:lvl5pPr>
      <a:lvl6pPr marL="342900" algn="l" rtl="0" eaLnBrk="1" fontAlgn="base" hangingPunct="1">
        <a:spcBef>
          <a:spcPct val="0"/>
        </a:spcBef>
        <a:spcAft>
          <a:spcPct val="0"/>
        </a:spcAft>
        <a:defRPr sz="2100" b="1">
          <a:solidFill>
            <a:srgbClr val="080808"/>
          </a:solidFill>
          <a:latin typeface="Arial" panose="020B0604020202020204" pitchFamily="34" charset="0"/>
        </a:defRPr>
      </a:lvl6pPr>
      <a:lvl7pPr marL="685800" algn="l" rtl="0" eaLnBrk="1" fontAlgn="base" hangingPunct="1">
        <a:spcBef>
          <a:spcPct val="0"/>
        </a:spcBef>
        <a:spcAft>
          <a:spcPct val="0"/>
        </a:spcAft>
        <a:defRPr sz="2100" b="1">
          <a:solidFill>
            <a:srgbClr val="080808"/>
          </a:solidFill>
          <a:latin typeface="Arial" panose="020B0604020202020204" pitchFamily="34" charset="0"/>
        </a:defRPr>
      </a:lvl7pPr>
      <a:lvl8pPr marL="1028700" algn="l" rtl="0" eaLnBrk="1" fontAlgn="base" hangingPunct="1">
        <a:spcBef>
          <a:spcPct val="0"/>
        </a:spcBef>
        <a:spcAft>
          <a:spcPct val="0"/>
        </a:spcAft>
        <a:defRPr sz="2100" b="1">
          <a:solidFill>
            <a:srgbClr val="080808"/>
          </a:solidFill>
          <a:latin typeface="Arial" panose="020B0604020202020204" pitchFamily="34" charset="0"/>
        </a:defRPr>
      </a:lvl8pPr>
      <a:lvl9pPr marL="1371600" algn="l" rtl="0" eaLnBrk="1" fontAlgn="base" hangingPunct="1">
        <a:spcBef>
          <a:spcPct val="0"/>
        </a:spcBef>
        <a:spcAft>
          <a:spcPct val="0"/>
        </a:spcAft>
        <a:defRPr sz="2100" b="1">
          <a:solidFill>
            <a:srgbClr val="080808"/>
          </a:solidFill>
          <a:latin typeface="Arial" panose="020B0604020202020204" pitchFamily="34" charset="0"/>
        </a:defRPr>
      </a:lvl9pPr>
    </p:titleStyle>
    <p:bodyStyle>
      <a:lvl1pPr marL="257175" indent="-257175" algn="l" rtl="0" eaLnBrk="0" fontAlgn="base" hangingPunct="0">
        <a:spcBef>
          <a:spcPct val="20000"/>
        </a:spcBef>
        <a:spcAft>
          <a:spcPct val="0"/>
        </a:spcAft>
        <a:buChar char="•"/>
        <a:defRPr sz="2100" kern="1200">
          <a:solidFill>
            <a:srgbClr val="080808"/>
          </a:solidFill>
          <a:latin typeface="+mn-lt"/>
          <a:ea typeface="+mn-ea"/>
          <a:cs typeface="+mn-cs"/>
        </a:defRPr>
      </a:lvl1pPr>
      <a:lvl2pPr marL="557213" indent="-214313" algn="l" rtl="0" eaLnBrk="0" fontAlgn="base" hangingPunct="0">
        <a:spcBef>
          <a:spcPct val="20000"/>
        </a:spcBef>
        <a:spcAft>
          <a:spcPct val="0"/>
        </a:spcAft>
        <a:buChar char="–"/>
        <a:defRPr b="1" kern="1200">
          <a:solidFill>
            <a:srgbClr val="080808"/>
          </a:solidFill>
          <a:latin typeface="+mn-lt"/>
          <a:ea typeface="+mn-ea"/>
          <a:cs typeface="+mn-cs"/>
        </a:defRPr>
      </a:lvl2pPr>
      <a:lvl3pPr marL="857250" indent="-171450" algn="l" rtl="0" eaLnBrk="0" fontAlgn="base" hangingPunct="0">
        <a:spcBef>
          <a:spcPct val="20000"/>
        </a:spcBef>
        <a:spcAft>
          <a:spcPct val="0"/>
        </a:spcAft>
        <a:buChar char="•"/>
        <a:defRPr kern="1200">
          <a:solidFill>
            <a:srgbClr val="080808"/>
          </a:solidFill>
          <a:latin typeface="+mn-lt"/>
          <a:ea typeface="+mn-ea"/>
          <a:cs typeface="+mn-cs"/>
        </a:defRPr>
      </a:lvl3pPr>
      <a:lvl4pPr marL="1200150" indent="-171450" algn="l" rtl="0" eaLnBrk="0" fontAlgn="base" hangingPunct="0">
        <a:spcBef>
          <a:spcPct val="20000"/>
        </a:spcBef>
        <a:spcAft>
          <a:spcPct val="0"/>
        </a:spcAft>
        <a:buChar char="–"/>
        <a:defRPr sz="1500" kern="1200">
          <a:solidFill>
            <a:srgbClr val="080808"/>
          </a:solidFill>
          <a:latin typeface="+mn-lt"/>
          <a:ea typeface="+mn-ea"/>
          <a:cs typeface="+mn-cs"/>
        </a:defRPr>
      </a:lvl4pPr>
      <a:lvl5pPr marL="1543050" indent="-171450" algn="l" rtl="0" eaLnBrk="0" fontAlgn="base" hangingPunct="0">
        <a:spcBef>
          <a:spcPct val="20000"/>
        </a:spcBef>
        <a:spcAft>
          <a:spcPct val="0"/>
        </a:spcAft>
        <a:buChar char="»"/>
        <a:defRPr sz="1500" kern="1200">
          <a:solidFill>
            <a:srgbClr val="080808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Slide Number Placeholder 5">
            <a:extLst>
              <a:ext uri="{FF2B5EF4-FFF2-40B4-BE49-F238E27FC236}">
                <a16:creationId xmlns:a16="http://schemas.microsoft.com/office/drawing/2014/main" id="{DAA31E02-64C8-B72B-AEAE-C1EFA43EE8F8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7010400" y="6245225"/>
            <a:ext cx="2133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100">
                <a:solidFill>
                  <a:srgbClr val="080808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b="1">
                <a:solidFill>
                  <a:srgbClr val="08080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rgbClr val="080808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500">
                <a:solidFill>
                  <a:srgbClr val="080808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500">
                <a:solidFill>
                  <a:srgbClr val="080808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rgbClr val="080808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rgbClr val="080808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rgbClr val="080808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rgbClr val="080808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FC46CBD-7ADE-431F-BC0C-375EADEC8CCC}" type="slidenum">
              <a:rPr lang="en-US" altLang="en-US" sz="1400">
                <a:solidFill>
                  <a:schemeClr val="tx1"/>
                </a:solidFill>
              </a:rPr>
              <a:pPr>
                <a:spcBef>
                  <a:spcPct val="0"/>
                </a:spcBef>
                <a:buFontTx/>
                <a:buNone/>
              </a:pPr>
              <a:t>1</a:t>
            </a:fld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486F7B2A-87A5-4D27-B6AE-90A0D83B5C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6800" y="2362200"/>
            <a:ext cx="3810000" cy="175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800">
                <a:solidFill>
                  <a:schemeClr val="tx1"/>
                </a:solidFill>
                <a:latin typeface="+mn-lt"/>
              </a:defRPr>
            </a:lvl2pPr>
            <a:lvl3pPr marL="9144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400">
                <a:solidFill>
                  <a:schemeClr val="tx1"/>
                </a:solidFill>
                <a:latin typeface="+mn-lt"/>
              </a:defRPr>
            </a:lvl3pPr>
            <a:lvl4pPr marL="13716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4pPr>
            <a:lvl5pPr marL="18288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5pPr>
            <a:lvl6pPr marL="2286000" indent="0" algn="ctr" rtl="0" fontAlgn="base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6pPr>
            <a:lvl7pPr marL="2743200" indent="0" algn="ctr" rtl="0" fontAlgn="base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7pPr>
            <a:lvl8pPr marL="3200400" indent="0" algn="ctr" rtl="0" fontAlgn="base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8pPr>
            <a:lvl9pPr marL="3657600" indent="0" algn="ctr" rtl="0" fontAlgn="base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>
              <a:defRPr/>
            </a:pPr>
            <a:r>
              <a:rPr lang="en-US" sz="4800" b="1" dirty="0">
                <a:solidFill>
                  <a:schemeClr val="bg1"/>
                </a:solidFill>
              </a:rPr>
              <a:t>Distributed Database System </a:t>
            </a:r>
            <a:endParaRPr lang="en-US" altLang="en-US" sz="4800" b="1" kern="0" dirty="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86F7B2A-87A5-4D27-B6AE-90A0D83B5C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457200"/>
            <a:ext cx="25908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800">
                <a:solidFill>
                  <a:schemeClr val="tx1"/>
                </a:solidFill>
                <a:latin typeface="+mn-lt"/>
              </a:defRPr>
            </a:lvl2pPr>
            <a:lvl3pPr marL="9144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400">
                <a:solidFill>
                  <a:schemeClr val="tx1"/>
                </a:solidFill>
                <a:latin typeface="+mn-lt"/>
              </a:defRPr>
            </a:lvl3pPr>
            <a:lvl4pPr marL="13716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4pPr>
            <a:lvl5pPr marL="18288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5pPr>
            <a:lvl6pPr marL="2286000" indent="0" algn="ctr" rtl="0" fontAlgn="base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6pPr>
            <a:lvl7pPr marL="2743200" indent="0" algn="ctr" rtl="0" fontAlgn="base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7pPr>
            <a:lvl8pPr marL="3200400" indent="0" algn="ctr" rtl="0" fontAlgn="base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8pPr>
            <a:lvl9pPr marL="3657600" indent="0" algn="ctr" rtl="0" fontAlgn="base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>
              <a:defRPr/>
            </a:pPr>
            <a:r>
              <a:rPr lang="en-US" sz="4400" b="1" dirty="0"/>
              <a:t>Chapter</a:t>
            </a:r>
            <a:endParaRPr lang="en-US" altLang="en-US" sz="4400" b="1" kern="0" dirty="0">
              <a:latin typeface="Times New Roman" panose="02020603050405020304" pitchFamily="18" charset="0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486F7B2A-87A5-4D27-B6AE-90A0D83B5C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990600"/>
            <a:ext cx="22098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800">
                <a:solidFill>
                  <a:schemeClr val="tx1"/>
                </a:solidFill>
                <a:latin typeface="+mn-lt"/>
              </a:defRPr>
            </a:lvl2pPr>
            <a:lvl3pPr marL="9144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400">
                <a:solidFill>
                  <a:schemeClr val="tx1"/>
                </a:solidFill>
                <a:latin typeface="+mn-lt"/>
              </a:defRPr>
            </a:lvl3pPr>
            <a:lvl4pPr marL="13716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4pPr>
            <a:lvl5pPr marL="18288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5pPr>
            <a:lvl6pPr marL="2286000" indent="0" algn="ctr" rtl="0" fontAlgn="base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6pPr>
            <a:lvl7pPr marL="2743200" indent="0" algn="ctr" rtl="0" fontAlgn="base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7pPr>
            <a:lvl8pPr marL="3200400" indent="0" algn="ctr" rtl="0" fontAlgn="base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8pPr>
            <a:lvl9pPr marL="3657600" indent="0" algn="ctr" rtl="0" fontAlgn="base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>
              <a:defRPr/>
            </a:pPr>
            <a:r>
              <a:rPr lang="en-US" sz="7200" b="1" dirty="0">
                <a:solidFill>
                  <a:srgbClr val="0000DF"/>
                </a:solidFill>
              </a:rPr>
              <a:t>7</a:t>
            </a:r>
            <a:endParaRPr lang="en-US" altLang="en-US" sz="7200" b="1" kern="0" dirty="0">
              <a:solidFill>
                <a:srgbClr val="0000DF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37980E2A-8094-48D6-0B6B-538A8F1D1C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2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Distributed Database Concepts</a:t>
            </a:r>
            <a:endParaRPr lang="en-US" altLang="en-US" sz="2800" dirty="0"/>
          </a:p>
        </p:txBody>
      </p:sp>
      <p:sp>
        <p:nvSpPr>
          <p:cNvPr id="6147" name="Content Placeholder 2">
            <a:extLst>
              <a:ext uri="{FF2B5EF4-FFF2-40B4-BE49-F238E27FC236}">
                <a16:creationId xmlns:a16="http://schemas.microsoft.com/office/drawing/2014/main" id="{3143624E-230A-1523-0521-0C93E1644B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763" y="1143000"/>
            <a:ext cx="8528050" cy="4953000"/>
          </a:xfrm>
        </p:spPr>
        <p:txBody>
          <a:bodyPr/>
          <a:lstStyle/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Distributed Database:</a:t>
            </a:r>
            <a:r>
              <a:rPr lang="en-US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 collection of multiple, interconnected databases spread across different locations.</a:t>
            </a:r>
            <a:endParaRPr lang="en-US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Key Concepts:</a:t>
            </a:r>
          </a:p>
          <a:p>
            <a:pPr marL="742950" marR="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Distribution Transparency:</a:t>
            </a:r>
            <a:r>
              <a:rPr lang="en-US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This ensures that users can interact with the distributed database as if it were a single database. The complexities of the underlying distribution are hidden from the user.</a:t>
            </a:r>
            <a:endParaRPr lang="en-US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1143000" marR="0" lvl="2" indent="-22860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"/>
              <a:tabLst>
                <a:tab pos="1371600" algn="l"/>
              </a:tabLst>
            </a:pPr>
            <a:r>
              <a:rPr lang="en-US" sz="2400" i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r>
              <a:rPr lang="en-US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An employee using a centralized HR application from any office without needing to know which server their data is stored on.</a:t>
            </a:r>
            <a:endParaRPr lang="en-US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endParaRPr lang="en-US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4B1AE7-948D-9416-6CEF-FB3E27B344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4525" y="457200"/>
            <a:ext cx="6769100" cy="508000"/>
          </a:xfrm>
        </p:spPr>
        <p:txBody>
          <a:bodyPr/>
          <a:lstStyle/>
          <a:p>
            <a:r>
              <a:rPr lang="en-US" sz="2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Replication</a:t>
            </a:r>
            <a:endParaRPr lang="en-US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346848-A5D3-EF7C-C793-4207C99013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0375" y="1066801"/>
            <a:ext cx="8223250" cy="4450556"/>
          </a:xfrm>
        </p:spPr>
        <p:txBody>
          <a:bodyPr/>
          <a:lstStyle/>
          <a:p>
            <a:pPr marL="742950" marR="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Replication:</a:t>
            </a:r>
            <a:r>
              <a:rPr lang="en-US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Involves storing copies of data on multiple nodes to improve availability and reliability. There are different types of replications:</a:t>
            </a:r>
            <a:endParaRPr lang="en-US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1143000" marR="0" lvl="2" indent="-22860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"/>
              <a:tabLst>
                <a:tab pos="1371600" algn="l"/>
              </a:tabLst>
            </a:pPr>
            <a:r>
              <a:rPr lang="en-US" sz="2400" i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Synchronous Replication:</a:t>
            </a:r>
            <a:r>
              <a:rPr lang="en-US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Changes are made to all copies simultaneously, ensuring consistency.</a:t>
            </a:r>
            <a:endParaRPr lang="en-US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1143000" marR="0" lvl="2" indent="-22860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"/>
              <a:tabLst>
                <a:tab pos="1371600" algn="l"/>
              </a:tabLst>
            </a:pPr>
            <a:r>
              <a:rPr lang="en-US" sz="2400" i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Asynchronous Replication:</a:t>
            </a:r>
            <a:r>
              <a:rPr lang="en-US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Changes are made to one copy first and then propagated to others, which may cause temporary inconsistencies.</a:t>
            </a:r>
            <a:endParaRPr lang="en-US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lvl="3"/>
            <a:r>
              <a:rPr lang="en-US" sz="2000" i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Example:</a:t>
            </a:r>
            <a:r>
              <a:rPr lang="en-US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A financial system replicating transaction records across multiple data centers to ensure data is available even if one center fails.</a:t>
            </a:r>
            <a:endParaRPr lang="en-US" sz="5400" dirty="0"/>
          </a:p>
        </p:txBody>
      </p:sp>
    </p:spTree>
    <p:extLst>
      <p:ext uri="{BB962C8B-B14F-4D97-AF65-F5344CB8AC3E}">
        <p14:creationId xmlns:p14="http://schemas.microsoft.com/office/powerpoint/2010/main" val="3160150999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0FCFC8-D8BE-3945-C86E-C620CBB67C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579784-6F46-6ED7-CFAF-D6AEB6DDE2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4525" y="457200"/>
            <a:ext cx="6769100" cy="508000"/>
          </a:xfrm>
        </p:spPr>
        <p:txBody>
          <a:bodyPr/>
          <a:lstStyle/>
          <a:p>
            <a:r>
              <a:rPr lang="en-US" sz="2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Fragmentation</a:t>
            </a:r>
            <a:endParaRPr lang="en-US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CF8413-5627-D143-6E81-8C15BD316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0375" y="1066801"/>
            <a:ext cx="8223250" cy="4450556"/>
          </a:xfrm>
        </p:spPr>
        <p:txBody>
          <a:bodyPr/>
          <a:lstStyle/>
          <a:p>
            <a:endParaRPr lang="en-US" dirty="0">
              <a:effectLst/>
            </a:endParaRPr>
          </a:p>
          <a:p>
            <a:pPr marL="442912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7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Fragmentation:</a:t>
            </a:r>
            <a:r>
              <a:rPr lang="en-US" sz="27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The process of dividing a database into smaller pieces called fragments. There are three main types:</a:t>
            </a:r>
            <a:endParaRPr lang="en-US" sz="23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842963" lvl="1" indent="-22860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"/>
              <a:tabLst>
                <a:tab pos="1371600" algn="l"/>
              </a:tabLst>
            </a:pPr>
            <a:r>
              <a:rPr lang="en-US" sz="2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Horizontal Fragmentation:</a:t>
            </a:r>
            <a:r>
              <a:rPr lang="en-US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Dividing a table into rows, with each fragment containing a subset of rows.</a:t>
            </a:r>
            <a:endParaRPr lang="en-US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1257300" lvl="2" indent="-22860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"/>
              <a:tabLst>
                <a:tab pos="1828800" algn="l"/>
              </a:tabLst>
            </a:pPr>
            <a:r>
              <a:rPr lang="en-US" sz="2700" i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r>
              <a:rPr lang="en-US" sz="27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 customer table divided by geographic regions such as North, South, East, and West.</a:t>
            </a:r>
            <a:endParaRPr lang="en-US" sz="23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842963" lvl="1" indent="-22860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"/>
              <a:tabLst>
                <a:tab pos="1371600" algn="l"/>
              </a:tabLst>
            </a:pPr>
            <a:endParaRPr lang="en-US" sz="23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8388834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128496-315C-CDA2-D432-1671A4CA39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457200"/>
            <a:ext cx="6769100" cy="508000"/>
          </a:xfrm>
        </p:spPr>
        <p:txBody>
          <a:bodyPr/>
          <a:lstStyle/>
          <a:p>
            <a:r>
              <a:rPr lang="en-US" sz="2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Fragmentation</a:t>
            </a:r>
            <a:r>
              <a:rPr lang="en-US" sz="2400" kern="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endParaRPr lang="en-US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82E8B4-A352-AA25-DE7E-CE96A9AAC9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143000"/>
            <a:ext cx="8293100" cy="4176713"/>
          </a:xfrm>
        </p:spPr>
        <p:txBody>
          <a:bodyPr/>
          <a:lstStyle/>
          <a:p>
            <a:pPr marL="842963" lvl="1" indent="-22860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"/>
              <a:tabLst>
                <a:tab pos="1371600" algn="l"/>
              </a:tabLst>
            </a:pPr>
            <a:r>
              <a:rPr lang="en-US" sz="2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Vertical Fragmentation:</a:t>
            </a:r>
            <a:r>
              <a:rPr lang="en-US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Dividing a table into columns, with each fragment containing a subset of columns.</a:t>
            </a:r>
            <a:endParaRPr lang="en-US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1257300" lvl="2" indent="-22860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"/>
              <a:tabLst>
                <a:tab pos="1828800" algn="l"/>
              </a:tabLst>
            </a:pPr>
            <a:r>
              <a:rPr lang="en-US" sz="2800" i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r>
              <a:rPr lang="en-US" sz="2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Separating a customer table into personal details (name, address) and transactional details (purchase history).</a:t>
            </a:r>
          </a:p>
          <a:p>
            <a:pPr marL="842963" lvl="1" indent="-22860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"/>
              <a:tabLst>
                <a:tab pos="1371600" algn="l"/>
              </a:tabLst>
            </a:pPr>
            <a:r>
              <a:rPr lang="en-US" sz="2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Hybrid Fragmentation:</a:t>
            </a:r>
            <a:r>
              <a:rPr lang="en-US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Combining both horizontal and vertical fragmentation.</a:t>
            </a:r>
            <a:endParaRPr lang="en-US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1257300" lvl="2" indent="-22860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"/>
              <a:tabLst>
                <a:tab pos="1828800" algn="l"/>
              </a:tabLst>
            </a:pPr>
            <a:r>
              <a:rPr lang="en-US" sz="2800" i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r>
              <a:rPr lang="en-US" sz="2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An employee table divided by department (vertical) and within each department by location (horizontal).</a:t>
            </a:r>
            <a:endParaRPr lang="en-US" dirty="0"/>
          </a:p>
          <a:p>
            <a:pPr marL="1257300" lvl="2" indent="-22860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"/>
              <a:tabLst>
                <a:tab pos="1828800" algn="l"/>
              </a:tabLst>
            </a:pPr>
            <a:endParaRPr lang="en-US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2147890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D005AF-F46F-38CF-6485-2E7689643B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5000" y="457200"/>
            <a:ext cx="6769100" cy="508000"/>
          </a:xfrm>
        </p:spPr>
        <p:txBody>
          <a:bodyPr/>
          <a:lstStyle/>
          <a:p>
            <a:r>
              <a:rPr lang="en-US" sz="2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Network Transparency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0599AE-18F0-17F1-5772-ADFCD9AEE4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1340643"/>
            <a:ext cx="7613650" cy="4176713"/>
          </a:xfrm>
        </p:spPr>
        <p:txBody>
          <a:bodyPr/>
          <a:lstStyle/>
          <a:p>
            <a:pPr marL="742950" marR="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Network Transparency:</a:t>
            </a:r>
            <a:r>
              <a:rPr lang="en-US" sz="2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Hiding the complexities of the network from users and applications, so they do not need to manage network addresses or routes.</a:t>
            </a:r>
            <a:endParaRPr lang="en-US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1143000" marR="0" lvl="2" indent="-22860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"/>
              <a:tabLst>
                <a:tab pos="1371600" algn="l"/>
              </a:tabLst>
            </a:pPr>
            <a:r>
              <a:rPr lang="en-US" sz="2800" i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r>
              <a:rPr lang="en-US" sz="2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Users retrieving data without needing to understand the underlying network topology or the physical location of the data.</a:t>
            </a:r>
            <a:endParaRPr lang="en-US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6920200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CD613-2BC7-04CA-6DC8-FB70169A2F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532982"/>
            <a:ext cx="6769100" cy="508000"/>
          </a:xfrm>
        </p:spPr>
        <p:txBody>
          <a:bodyPr/>
          <a:lstStyle/>
          <a:p>
            <a:r>
              <a:rPr lang="en-US" sz="2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Data Fragmentation, Replication, and Allocation Techniques</a:t>
            </a:r>
            <a:endParaRPr lang="en-US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FBB4F1-6FBB-D01E-D862-CA2DD7E654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447800"/>
            <a:ext cx="7162800" cy="4405313"/>
          </a:xfrm>
        </p:spPr>
        <p:txBody>
          <a:bodyPr/>
          <a:lstStyle/>
          <a:p>
            <a:r>
              <a:rPr lang="en-US" sz="2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Data Fragmentation</a:t>
            </a:r>
            <a:endParaRPr lang="en-US" sz="2400" dirty="0">
              <a:effectLst/>
            </a:endParaRPr>
          </a:p>
          <a:p>
            <a:pPr marL="742950" marR="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Horizontal Fragmentation:</a:t>
            </a:r>
            <a:r>
              <a:rPr lang="en-US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Divides a table into rows, with each fragment containing a subset of rows.</a:t>
            </a:r>
          </a:p>
          <a:p>
            <a:pPr marL="742950" marR="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Vertical Fragmentation:</a:t>
            </a:r>
            <a:r>
              <a:rPr lang="en-US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Divides a table into columns, with each fragment containing a subset of columns.</a:t>
            </a:r>
          </a:p>
          <a:p>
            <a:pPr marL="742950" marR="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Hybrid Fragmentation:</a:t>
            </a:r>
            <a:r>
              <a:rPr lang="en-US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Combines horizontal and vertical fragmentation.</a:t>
            </a:r>
            <a:endParaRPr lang="en-US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endParaRPr lang="en-US" sz="11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0721055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929677-9974-BBCC-A4D2-598A8EED28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400050"/>
            <a:ext cx="6769100" cy="508000"/>
          </a:xfrm>
        </p:spPr>
        <p:txBody>
          <a:bodyPr/>
          <a:lstStyle/>
          <a:p>
            <a:r>
              <a:rPr lang="en-US" sz="30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Replication</a:t>
            </a:r>
            <a:endParaRPr lang="en-US" sz="3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FDFA74-C7D8-D26A-799C-A04E475D61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" y="908050"/>
            <a:ext cx="8070850" cy="4176713"/>
          </a:xfrm>
        </p:spPr>
        <p:txBody>
          <a:bodyPr/>
          <a:lstStyle/>
          <a:p>
            <a:endParaRPr lang="en-US" sz="2400" dirty="0">
              <a:effectLst/>
            </a:endParaRPr>
          </a:p>
          <a:p>
            <a:pPr marL="742950" marR="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Full Replication:</a:t>
            </a:r>
            <a:r>
              <a:rPr lang="en-US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Storing complete copies of the database at multiple sites.</a:t>
            </a:r>
            <a:endParaRPr lang="en-US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1143000" marR="0" lvl="2" indent="-22860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"/>
              <a:tabLst>
                <a:tab pos="1371600" algn="l"/>
              </a:tabLst>
            </a:pPr>
            <a:r>
              <a:rPr lang="en-US" sz="2400" i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r>
              <a:rPr lang="en-US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 global e-commerce platform replicating its product catalog entirely at each regional server to ensure fast access and redundancy.</a:t>
            </a:r>
            <a:endParaRPr lang="en-US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Partial Replication:</a:t>
            </a:r>
            <a:r>
              <a:rPr lang="en-US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Storing copies of only some parts of the database at multiple sites.</a:t>
            </a:r>
            <a:endParaRPr lang="en-US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1143000" marR="0" lvl="2" indent="-22860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"/>
              <a:tabLst>
                <a:tab pos="1371600" algn="l"/>
              </a:tabLst>
            </a:pPr>
            <a:r>
              <a:rPr lang="en-US" sz="2400" i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r>
              <a:rPr lang="en-US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Replicating high-demand video content at multiple locations, while lesser-known content is stored centrally.</a:t>
            </a:r>
            <a:endParaRPr lang="en-US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4253771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F4FD9D-F5EF-83BE-FE1F-46F9BE336E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7400" y="381000"/>
            <a:ext cx="6769100" cy="508000"/>
          </a:xfrm>
        </p:spPr>
        <p:txBody>
          <a:bodyPr/>
          <a:lstStyle/>
          <a:p>
            <a:r>
              <a:rPr lang="en-US" sz="2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Allocation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B3B094-7C46-F932-C9E7-468EB513AA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0225" y="1340643"/>
            <a:ext cx="8147050" cy="4176713"/>
          </a:xfrm>
        </p:spPr>
        <p:txBody>
          <a:bodyPr/>
          <a:lstStyle/>
          <a:p>
            <a:pPr marL="742950" marR="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Centralized Allocation:</a:t>
            </a:r>
            <a:r>
              <a:rPr lang="en-US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Storing the entire database at a single site.</a:t>
            </a:r>
            <a:endParaRPr lang="en-US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1143000" marR="0" lvl="2" indent="-22860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"/>
              <a:tabLst>
                <a:tab pos="1371600" algn="l"/>
              </a:tabLst>
            </a:pPr>
            <a:r>
              <a:rPr lang="en-US" sz="2400" i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r>
              <a:rPr lang="en-US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 small company's database is stored on a single server located at its headquarters.</a:t>
            </a:r>
            <a:endParaRPr lang="en-US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Distributed Allocation:</a:t>
            </a:r>
            <a:r>
              <a:rPr lang="en-US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Distributing fragments of the database across multiple sites based on access patterns, data usage, and network latency.</a:t>
            </a:r>
            <a:endParaRPr lang="en-US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1143000" marR="0" lvl="2" indent="-22860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"/>
              <a:tabLst>
                <a:tab pos="1371600" algn="l"/>
              </a:tabLst>
            </a:pPr>
            <a:r>
              <a:rPr lang="en-US" sz="2400" i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r>
              <a:rPr lang="en-US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 multinational corporation distributing customer data fragments to regional offices to ensure fast local access.</a:t>
            </a:r>
            <a:endParaRPr lang="en-US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421662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173D96-F54F-32E2-C77D-A09F6EAE91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Types of Distributed Database Systems</a:t>
            </a:r>
            <a:endParaRPr lang="en-US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81C2D5-FF39-A34D-D9AD-8952810796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" y="908050"/>
            <a:ext cx="8070850" cy="4176713"/>
          </a:xfrm>
        </p:spPr>
        <p:txBody>
          <a:bodyPr/>
          <a:lstStyle/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Homogeneous Distributed Databases:</a:t>
            </a:r>
            <a:r>
              <a:rPr lang="en-US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All sites use the same DBMS and have a uniform database schema.</a:t>
            </a:r>
            <a:endParaRPr lang="en-US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400" i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r>
              <a:rPr lang="en-US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Multiple branches of a bank using the same database software and schema for customer account information.</a:t>
            </a:r>
            <a:endParaRPr lang="en-US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Heterogeneous Distributed Databases:</a:t>
            </a:r>
            <a:r>
              <a:rPr lang="en-US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Different sites may use different DBMSs and have different schemas. Middleware is required to provide a unified interface.</a:t>
            </a:r>
            <a:endParaRPr lang="en-US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400" i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r>
              <a:rPr lang="en-US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An enterprise that integrates systems from acquired companies, which run on different DBMSs like Oracle, SQL Server, and MySQL.</a:t>
            </a:r>
            <a:endParaRPr lang="en-US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0521089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C19E47-73A9-8A0C-D90A-057E61DD7B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Types of Distributed Database Systems…</a:t>
            </a:r>
            <a:endParaRPr lang="en-US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DDACB2-6C19-A4F3-033C-6541D4A583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Federated Databases:</a:t>
            </a:r>
            <a:r>
              <a:rPr lang="en-US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 type of heterogeneous database where each site retains control over its own data but cooperates to provide a unified view.</a:t>
            </a:r>
            <a:endParaRPr lang="en-US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400" i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r>
              <a:rPr lang="en-US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Universities collaborating on research by sharing their databases while maintaining individual control over their own data.</a:t>
            </a:r>
            <a:endParaRPr lang="en-US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9869625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669F57-17F7-A7A6-EC6E-C784944F33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Query Processing in Distributed Databases</a:t>
            </a:r>
            <a:endParaRPr lang="en-US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DF346E-8411-0A1C-D2C6-3B25964EF3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" y="908050"/>
            <a:ext cx="8070850" cy="4176713"/>
          </a:xfrm>
        </p:spPr>
        <p:txBody>
          <a:bodyPr/>
          <a:lstStyle/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Query Decomposition:</a:t>
            </a:r>
            <a:r>
              <a:rPr lang="en-US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The process of breaking down a high-level query into subqueries that can be executed at different sites.</a:t>
            </a:r>
            <a:endParaRPr lang="en-US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400" i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r>
              <a:rPr lang="en-US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 query to find all customers who purchased a product may be broken down into subqueries for each regional database to fetch relevant data.</a:t>
            </a:r>
            <a:endParaRPr lang="en-US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 Localization:</a:t>
            </a:r>
            <a:r>
              <a:rPr lang="en-US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Determining the location of data required to answer the query.</a:t>
            </a:r>
            <a:endParaRPr lang="en-US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400" i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r>
              <a:rPr lang="en-US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Identifying which fragments of the sales data are needed to calculate total sales by region and directing subqueries to those locations.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330995071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75321-56B6-18E2-0C21-A97BE0458D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Query Processing in Distributed Databases . . .</a:t>
            </a:r>
            <a:endParaRPr lang="en-US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D9D39F-E10D-0412-16B1-1AA2F97338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908050"/>
            <a:ext cx="7994650" cy="4176713"/>
          </a:xfrm>
        </p:spPr>
        <p:txBody>
          <a:bodyPr/>
          <a:lstStyle/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Optimization:</a:t>
            </a:r>
            <a:r>
              <a:rPr lang="en-US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Choosing the most efficient way to execute the query, considering factors such as data transfer costs, local processing costs, and network latency.</a:t>
            </a:r>
            <a:endParaRPr lang="en-US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400" i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r>
              <a:rPr lang="en-US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Deciding whether to move large data sets or process subqueries locally and send smaller results back to the main query processor.</a:t>
            </a:r>
            <a:endParaRPr lang="en-US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Execution:</a:t>
            </a:r>
            <a:r>
              <a:rPr lang="en-US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Coordinating the execution of subqueries and combining their results to produce the final answer.</a:t>
            </a:r>
            <a:endParaRPr lang="en-US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400" i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r>
              <a:rPr lang="en-US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After executing subqueries at regional offices, gathering the results and combining them to generate a company-wide sales report.</a:t>
            </a:r>
            <a:endParaRPr lang="en-US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134418479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template">
  <a:themeElements>
    <a:clrScheme name="template 8">
      <a:dk1>
        <a:srgbClr val="4D4D4D"/>
      </a:dk1>
      <a:lt1>
        <a:srgbClr val="FFFFFF"/>
      </a:lt1>
      <a:dk2>
        <a:srgbClr val="000000"/>
      </a:dk2>
      <a:lt2>
        <a:srgbClr val="224700"/>
      </a:lt2>
      <a:accent1>
        <a:srgbClr val="68A500"/>
      </a:accent1>
      <a:accent2>
        <a:srgbClr val="8CB400"/>
      </a:accent2>
      <a:accent3>
        <a:srgbClr val="FFFFFF"/>
      </a:accent3>
      <a:accent4>
        <a:srgbClr val="404040"/>
      </a:accent4>
      <a:accent5>
        <a:srgbClr val="B9CFAA"/>
      </a:accent5>
      <a:accent6>
        <a:srgbClr val="7EA300"/>
      </a:accent6>
      <a:hlink>
        <a:srgbClr val="C0C425"/>
      </a:hlink>
      <a:folHlink>
        <a:srgbClr val="EAEAEA"/>
      </a:folHlink>
    </a:clrScheme>
    <a:fontScheme name="temp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template 1">
        <a:dk1>
          <a:srgbClr val="4D4D4D"/>
        </a:dk1>
        <a:lt1>
          <a:srgbClr val="FFFFFF"/>
        </a:lt1>
        <a:dk2>
          <a:srgbClr val="000000"/>
        </a:dk2>
        <a:lt2>
          <a:srgbClr val="6E6046"/>
        </a:lt2>
        <a:accent1>
          <a:srgbClr val="B69E77"/>
        </a:accent1>
        <a:accent2>
          <a:srgbClr val="9E280E"/>
        </a:accent2>
        <a:accent3>
          <a:srgbClr val="FFFFFF"/>
        </a:accent3>
        <a:accent4>
          <a:srgbClr val="404040"/>
        </a:accent4>
        <a:accent5>
          <a:srgbClr val="D7CCBD"/>
        </a:accent5>
        <a:accent6>
          <a:srgbClr val="8F230C"/>
        </a:accent6>
        <a:hlink>
          <a:srgbClr val="FFC6A4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2">
        <a:dk1>
          <a:srgbClr val="4D4D4D"/>
        </a:dk1>
        <a:lt1>
          <a:srgbClr val="FFFFFF"/>
        </a:lt1>
        <a:dk2>
          <a:srgbClr val="000000"/>
        </a:dk2>
        <a:lt2>
          <a:srgbClr val="6E6046"/>
        </a:lt2>
        <a:accent1>
          <a:srgbClr val="B69E77"/>
        </a:accent1>
        <a:accent2>
          <a:srgbClr val="9E280E"/>
        </a:accent2>
        <a:accent3>
          <a:srgbClr val="FFFFFF"/>
        </a:accent3>
        <a:accent4>
          <a:srgbClr val="404040"/>
        </a:accent4>
        <a:accent5>
          <a:srgbClr val="D7CCBD"/>
        </a:accent5>
        <a:accent6>
          <a:srgbClr val="8F230C"/>
        </a:accent6>
        <a:hlink>
          <a:srgbClr val="E1C6A4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3">
        <a:dk1>
          <a:srgbClr val="4D4D4D"/>
        </a:dk1>
        <a:lt1>
          <a:srgbClr val="FFFFFF"/>
        </a:lt1>
        <a:dk2>
          <a:srgbClr val="000000"/>
        </a:dk2>
        <a:lt2>
          <a:srgbClr val="532F3C"/>
        </a:lt2>
        <a:accent1>
          <a:srgbClr val="CDC09A"/>
        </a:accent1>
        <a:accent2>
          <a:srgbClr val="AC9F55"/>
        </a:accent2>
        <a:accent3>
          <a:srgbClr val="FFFFFF"/>
        </a:accent3>
        <a:accent4>
          <a:srgbClr val="404040"/>
        </a:accent4>
        <a:accent5>
          <a:srgbClr val="E3DCCA"/>
        </a:accent5>
        <a:accent6>
          <a:srgbClr val="9B904C"/>
        </a:accent6>
        <a:hlink>
          <a:srgbClr val="DBD3C7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4">
        <a:dk1>
          <a:srgbClr val="4D4D4D"/>
        </a:dk1>
        <a:lt1>
          <a:srgbClr val="FFFFFF"/>
        </a:lt1>
        <a:dk2>
          <a:srgbClr val="000000"/>
        </a:dk2>
        <a:lt2>
          <a:srgbClr val="064300"/>
        </a:lt2>
        <a:accent1>
          <a:srgbClr val="AC927F"/>
        </a:accent1>
        <a:accent2>
          <a:srgbClr val="3AAE00"/>
        </a:accent2>
        <a:accent3>
          <a:srgbClr val="FFFFFF"/>
        </a:accent3>
        <a:accent4>
          <a:srgbClr val="404040"/>
        </a:accent4>
        <a:accent5>
          <a:srgbClr val="D2C7C0"/>
        </a:accent5>
        <a:accent6>
          <a:srgbClr val="349D00"/>
        </a:accent6>
        <a:hlink>
          <a:srgbClr val="D2B8A0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5">
        <a:dk1>
          <a:srgbClr val="4D4D4D"/>
        </a:dk1>
        <a:lt1>
          <a:srgbClr val="FFFFFF"/>
        </a:lt1>
        <a:dk2>
          <a:srgbClr val="000000"/>
        </a:dk2>
        <a:lt2>
          <a:srgbClr val="033100"/>
        </a:lt2>
        <a:accent1>
          <a:srgbClr val="2F9400"/>
        </a:accent1>
        <a:accent2>
          <a:srgbClr val="6C838B"/>
        </a:accent2>
        <a:accent3>
          <a:srgbClr val="FFFFFF"/>
        </a:accent3>
        <a:accent4>
          <a:srgbClr val="404040"/>
        </a:accent4>
        <a:accent5>
          <a:srgbClr val="ADC8AA"/>
        </a:accent5>
        <a:accent6>
          <a:srgbClr val="61767D"/>
        </a:accent6>
        <a:hlink>
          <a:srgbClr val="996E68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6">
        <a:dk1>
          <a:srgbClr val="4D4D4D"/>
        </a:dk1>
        <a:lt1>
          <a:srgbClr val="FFFFFF"/>
        </a:lt1>
        <a:dk2>
          <a:srgbClr val="000000"/>
        </a:dk2>
        <a:lt2>
          <a:srgbClr val="063B00"/>
        </a:lt2>
        <a:accent1>
          <a:srgbClr val="33A800"/>
        </a:accent1>
        <a:accent2>
          <a:srgbClr val="B26D33"/>
        </a:accent2>
        <a:accent3>
          <a:srgbClr val="FFFFFF"/>
        </a:accent3>
        <a:accent4>
          <a:srgbClr val="404040"/>
        </a:accent4>
        <a:accent5>
          <a:srgbClr val="ADD1AA"/>
        </a:accent5>
        <a:accent6>
          <a:srgbClr val="A1622D"/>
        </a:accent6>
        <a:hlink>
          <a:srgbClr val="CE7931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7">
        <a:dk1>
          <a:srgbClr val="4D4D4D"/>
        </a:dk1>
        <a:lt1>
          <a:srgbClr val="FFFFFF"/>
        </a:lt1>
        <a:dk2>
          <a:srgbClr val="000000"/>
        </a:dk2>
        <a:lt2>
          <a:srgbClr val="224700"/>
        </a:lt2>
        <a:accent1>
          <a:srgbClr val="68A500"/>
        </a:accent1>
        <a:accent2>
          <a:srgbClr val="8CB400"/>
        </a:accent2>
        <a:accent3>
          <a:srgbClr val="FFFFFF"/>
        </a:accent3>
        <a:accent4>
          <a:srgbClr val="404040"/>
        </a:accent4>
        <a:accent5>
          <a:srgbClr val="B9CFAA"/>
        </a:accent5>
        <a:accent6>
          <a:srgbClr val="7EA300"/>
        </a:accent6>
        <a:hlink>
          <a:srgbClr val="DC888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8">
        <a:dk1>
          <a:srgbClr val="4D4D4D"/>
        </a:dk1>
        <a:lt1>
          <a:srgbClr val="FFFFFF"/>
        </a:lt1>
        <a:dk2>
          <a:srgbClr val="000000"/>
        </a:dk2>
        <a:lt2>
          <a:srgbClr val="224700"/>
        </a:lt2>
        <a:accent1>
          <a:srgbClr val="68A500"/>
        </a:accent1>
        <a:accent2>
          <a:srgbClr val="8CB400"/>
        </a:accent2>
        <a:accent3>
          <a:srgbClr val="FFFFFF"/>
        </a:accent3>
        <a:accent4>
          <a:srgbClr val="404040"/>
        </a:accent4>
        <a:accent5>
          <a:srgbClr val="B9CFAA"/>
        </a:accent5>
        <a:accent6>
          <a:srgbClr val="7EA300"/>
        </a:accent6>
        <a:hlink>
          <a:srgbClr val="C0C425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9">
        <a:dk1>
          <a:srgbClr val="4D4D4D"/>
        </a:dk1>
        <a:lt1>
          <a:srgbClr val="FFFFFF"/>
        </a:lt1>
        <a:dk2>
          <a:srgbClr val="000000"/>
        </a:dk2>
        <a:lt2>
          <a:srgbClr val="265400"/>
        </a:lt2>
        <a:accent1>
          <a:srgbClr val="37A091"/>
        </a:accent1>
        <a:accent2>
          <a:srgbClr val="CC8587"/>
        </a:accent2>
        <a:accent3>
          <a:srgbClr val="FFFFFF"/>
        </a:accent3>
        <a:accent4>
          <a:srgbClr val="404040"/>
        </a:accent4>
        <a:accent5>
          <a:srgbClr val="AECDC7"/>
        </a:accent5>
        <a:accent6>
          <a:srgbClr val="B9787A"/>
        </a:accent6>
        <a:hlink>
          <a:srgbClr val="FCE46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10">
        <a:dk1>
          <a:srgbClr val="4D4D4D"/>
        </a:dk1>
        <a:lt1>
          <a:srgbClr val="FFFFFF"/>
        </a:lt1>
        <a:dk2>
          <a:srgbClr val="000000"/>
        </a:dk2>
        <a:lt2>
          <a:srgbClr val="546715"/>
        </a:lt2>
        <a:accent1>
          <a:srgbClr val="EF733A"/>
        </a:accent1>
        <a:accent2>
          <a:srgbClr val="C1D72E"/>
        </a:accent2>
        <a:accent3>
          <a:srgbClr val="FFFFFF"/>
        </a:accent3>
        <a:accent4>
          <a:srgbClr val="404040"/>
        </a:accent4>
        <a:accent5>
          <a:srgbClr val="F6BCAE"/>
        </a:accent5>
        <a:accent6>
          <a:srgbClr val="AFC329"/>
        </a:accent6>
        <a:hlink>
          <a:srgbClr val="F19545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11">
        <a:dk1>
          <a:srgbClr val="4D4D4D"/>
        </a:dk1>
        <a:lt1>
          <a:srgbClr val="FFFFFF"/>
        </a:lt1>
        <a:dk2>
          <a:srgbClr val="000000"/>
        </a:dk2>
        <a:lt2>
          <a:srgbClr val="406910"/>
        </a:lt2>
        <a:accent1>
          <a:srgbClr val="D04611"/>
        </a:accent1>
        <a:accent2>
          <a:srgbClr val="77BB0F"/>
        </a:accent2>
        <a:accent3>
          <a:srgbClr val="FFFFFF"/>
        </a:accent3>
        <a:accent4>
          <a:srgbClr val="404040"/>
        </a:accent4>
        <a:accent5>
          <a:srgbClr val="E4B0AA"/>
        </a:accent5>
        <a:accent6>
          <a:srgbClr val="6BA90C"/>
        </a:accent6>
        <a:hlink>
          <a:srgbClr val="6CA2C7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12">
        <a:dk1>
          <a:srgbClr val="4D4D4D"/>
        </a:dk1>
        <a:lt1>
          <a:srgbClr val="FFFFFF"/>
        </a:lt1>
        <a:dk2>
          <a:srgbClr val="000000"/>
        </a:dk2>
        <a:lt2>
          <a:srgbClr val="506314"/>
        </a:lt2>
        <a:accent1>
          <a:srgbClr val="C0D532"/>
        </a:accent1>
        <a:accent2>
          <a:srgbClr val="7F9D1E"/>
        </a:accent2>
        <a:accent3>
          <a:srgbClr val="FFFFFF"/>
        </a:accent3>
        <a:accent4>
          <a:srgbClr val="404040"/>
        </a:accent4>
        <a:accent5>
          <a:srgbClr val="DCE7AD"/>
        </a:accent5>
        <a:accent6>
          <a:srgbClr val="728E1A"/>
        </a:accent6>
        <a:hlink>
          <a:srgbClr val="A5A5A5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13">
        <a:dk1>
          <a:srgbClr val="4D4D4D"/>
        </a:dk1>
        <a:lt1>
          <a:srgbClr val="FFFFFF"/>
        </a:lt1>
        <a:dk2>
          <a:srgbClr val="000000"/>
        </a:dk2>
        <a:lt2>
          <a:srgbClr val="506314"/>
        </a:lt2>
        <a:accent1>
          <a:srgbClr val="C0D532"/>
        </a:accent1>
        <a:accent2>
          <a:srgbClr val="7F9D1E"/>
        </a:accent2>
        <a:accent3>
          <a:srgbClr val="FFFFFF"/>
        </a:accent3>
        <a:accent4>
          <a:srgbClr val="404040"/>
        </a:accent4>
        <a:accent5>
          <a:srgbClr val="DCE7AD"/>
        </a:accent5>
        <a:accent6>
          <a:srgbClr val="728E1A"/>
        </a:accent6>
        <a:hlink>
          <a:srgbClr val="336600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14">
        <a:dk1>
          <a:srgbClr val="4D4D4D"/>
        </a:dk1>
        <a:lt1>
          <a:srgbClr val="FFFFFF"/>
        </a:lt1>
        <a:dk2>
          <a:srgbClr val="000000"/>
        </a:dk2>
        <a:lt2>
          <a:srgbClr val="506314"/>
        </a:lt2>
        <a:accent1>
          <a:srgbClr val="C0D532"/>
        </a:accent1>
        <a:accent2>
          <a:srgbClr val="7F9D1E"/>
        </a:accent2>
        <a:accent3>
          <a:srgbClr val="FFFFFF"/>
        </a:accent3>
        <a:accent4>
          <a:srgbClr val="404040"/>
        </a:accent4>
        <a:accent5>
          <a:srgbClr val="DCE7AD"/>
        </a:accent5>
        <a:accent6>
          <a:srgbClr val="728E1A"/>
        </a:accent6>
        <a:hlink>
          <a:srgbClr val="8CA824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Advanced Database System</Template>
  <TotalTime>21226</TotalTime>
  <Words>872</Words>
  <Application>Microsoft Office PowerPoint</Application>
  <PresentationFormat>On-screen Show (4:3)</PresentationFormat>
  <Paragraphs>62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Aptos</vt:lpstr>
      <vt:lpstr>Arial</vt:lpstr>
      <vt:lpstr>Courier New</vt:lpstr>
      <vt:lpstr>Symbol</vt:lpstr>
      <vt:lpstr>Times New Roman</vt:lpstr>
      <vt:lpstr>Wingdings</vt:lpstr>
      <vt:lpstr>template</vt:lpstr>
      <vt:lpstr>PowerPoint Presentation</vt:lpstr>
      <vt:lpstr>Distributed Database Concepts</vt:lpstr>
      <vt:lpstr>Replication</vt:lpstr>
      <vt:lpstr>Fragmentation</vt:lpstr>
      <vt:lpstr>Fragmentation…</vt:lpstr>
      <vt:lpstr>Network Transparency</vt:lpstr>
      <vt:lpstr>Data Fragmentation, Replication, and Allocation Techniques</vt:lpstr>
      <vt:lpstr>Replication</vt:lpstr>
      <vt:lpstr>Allocation</vt:lpstr>
      <vt:lpstr>Types of Distributed Database Systems</vt:lpstr>
      <vt:lpstr>Types of Distributed Database Systems…</vt:lpstr>
      <vt:lpstr>Query Processing in Distributed Databases</vt:lpstr>
      <vt:lpstr>Query Processing in Distributed Databases . . .</vt:lpstr>
    </vt:vector>
  </TitlesOfParts>
  <Company>AAU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Amanuael</dc:creator>
  <cp:lastModifiedBy>Solomon Tola</cp:lastModifiedBy>
  <cp:revision>585</cp:revision>
  <dcterms:created xsi:type="dcterms:W3CDTF">2008-12-03T08:06:33Z</dcterms:created>
  <dcterms:modified xsi:type="dcterms:W3CDTF">2025-01-01T18:14:49Z</dcterms:modified>
</cp:coreProperties>
</file>